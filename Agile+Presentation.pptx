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12"/>
  </p:notesMasterIdLst>
  <p:sldIdLst>
    <p:sldId id="256" r:id="rId5"/>
    <p:sldId id="257" r:id="rId6"/>
    <p:sldId id="258" r:id="rId7"/>
    <p:sldId id="259" r:id="rId8"/>
    <p:sldId id="260" r:id="rId9"/>
    <p:sldId id="261" r:id="rId10"/>
    <p:sldId id="262" r:id="rId11"/>
  </p:sldIdLst>
  <p:sldSz cx="12192000" cy="6858000"/>
  <p:notesSz cx="6858000" cy="9144000"/>
  <p:embeddedFontLst>
    <p:embeddedFont>
      <p:font typeface="Inter" panose="020B0604020202020204" charset="0"/>
      <p:regular r:id="rId13"/>
      <p:bold r:id="rId14"/>
      <p:italic r:id="rId15"/>
      <p:boldItalic r:id="rId16"/>
    </p:embeddedFont>
    <p:embeddedFont>
      <p:font typeface="Montserrat" panose="020F0502020204030204" pitchFamily="2" charset="0"/>
      <p:regular r:id="rId17"/>
      <p:bold r:id="rId18"/>
      <p:italic r:id="rId19"/>
      <p:boldItalic r:id="rId20"/>
    </p:embeddedFont>
    <p:embeddedFont>
      <p:font typeface="Montserrat ExtraBold" panose="020F0502020204030204" pitchFamily="2" charset="0"/>
      <p:bold r:id="rId21"/>
      <p:boldItalic r:id="rId22"/>
    </p:embeddedFont>
    <p:embeddedFont>
      <p:font typeface="Montserrat SemiBold" panose="020F0502020204030204"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customXml" Target="../customXml/item3.xml"/><Relationship Id="rId21" Type="http://schemas.openxmlformats.org/officeDocument/2006/relationships/font" Target="fonts/font9.fntdata"/><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2.fntdata"/><Relationship Id="rId5" Type="http://schemas.openxmlformats.org/officeDocument/2006/relationships/slide" Target="slides/slide1.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995362" y="1832669"/>
            <a:ext cx="10201275" cy="3192512"/>
          </a:xfrm>
          <a:prstGeom prst="rect">
            <a:avLst/>
          </a:prstGeom>
          <a:noFill/>
          <a:ln>
            <a:noFill/>
          </a:ln>
        </p:spPr>
      </p:pic>
      <p:sp>
        <p:nvSpPr>
          <p:cNvPr id="86" name="Google Shape;86;p13"/>
          <p:cNvSpPr txBox="1"/>
          <p:nvPr/>
        </p:nvSpPr>
        <p:spPr>
          <a:xfrm>
            <a:off x="1550431" y="2413694"/>
            <a:ext cx="9091136" cy="742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0" i="0" u="none" strike="noStrike" cap="none">
                <a:solidFill>
                  <a:srgbClr val="F8FAFC"/>
                </a:solidFill>
                <a:latin typeface="Montserrat ExtraBold"/>
                <a:ea typeface="Montserrat ExtraBold"/>
                <a:cs typeface="Montserrat ExtraBold"/>
                <a:sym typeface="Montserrat ExtraBold"/>
              </a:rPr>
              <a:t>Strategic Software Delivery</a:t>
            </a:r>
            <a:endParaRPr/>
          </a:p>
        </p:txBody>
      </p:sp>
      <p:sp>
        <p:nvSpPr>
          <p:cNvPr id="87" name="Google Shape;87;p13"/>
          <p:cNvSpPr txBox="1"/>
          <p:nvPr/>
        </p:nvSpPr>
        <p:spPr>
          <a:xfrm>
            <a:off x="1766887" y="3347144"/>
            <a:ext cx="8658225" cy="1097012"/>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94A3B8"/>
                </a:solidFill>
                <a:latin typeface="Inter"/>
                <a:ea typeface="Inter"/>
                <a:cs typeface="Inter"/>
                <a:sym typeface="Inter"/>
              </a:rPr>
              <a:t>Evaluating Agile vs. Waterfall for Future Development</a:t>
            </a:r>
            <a:br>
              <a:rPr lang="en-US" sz="1800" b="0" i="0" u="none" strike="noStrike" cap="none">
                <a:solidFill>
                  <a:schemeClr val="dk1"/>
                </a:solidFill>
                <a:latin typeface="Calibri"/>
                <a:ea typeface="Calibri"/>
                <a:cs typeface="Calibri"/>
                <a:sym typeface="Calibri"/>
              </a:rPr>
            </a:br>
            <a:br>
              <a:rPr lang="en-US" sz="1800" b="0" i="0" u="none" strike="noStrike" cap="none">
                <a:solidFill>
                  <a:schemeClr val="dk1"/>
                </a:solidFill>
                <a:latin typeface="Calibri"/>
                <a:ea typeface="Calibri"/>
                <a:cs typeface="Calibri"/>
                <a:sym typeface="Calibri"/>
              </a:rPr>
            </a:br>
            <a:r>
              <a:rPr lang="en-US" sz="1800" b="0" i="0" u="none" strike="noStrike" cap="none">
                <a:solidFill>
                  <a:srgbClr val="38BDF8"/>
                </a:solidFill>
                <a:latin typeface="Inter"/>
                <a:ea typeface="Inter"/>
                <a:cs typeface="Inter"/>
                <a:sym typeface="Inter"/>
              </a:rPr>
              <a:t>SNHU Travel Project Retrospective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571500" y="1543050"/>
            <a:ext cx="3492549" cy="4667250"/>
          </a:xfrm>
          <a:prstGeom prst="rect">
            <a:avLst/>
          </a:prstGeom>
          <a:noFill/>
          <a:ln>
            <a:noFill/>
          </a:ln>
        </p:spPr>
      </p:pic>
      <p:pic>
        <p:nvPicPr>
          <p:cNvPr id="94" name="Google Shape;94;p14" descr="image.png"/>
          <p:cNvPicPr preferRelativeResize="0"/>
          <p:nvPr/>
        </p:nvPicPr>
        <p:blipFill rotWithShape="1">
          <a:blip r:embed="rId5">
            <a:alphaModFix/>
          </a:blip>
          <a:srcRect/>
          <a:stretch/>
        </p:blipFill>
        <p:spPr>
          <a:xfrm>
            <a:off x="4349799" y="1543050"/>
            <a:ext cx="3492549" cy="4667250"/>
          </a:xfrm>
          <a:prstGeom prst="rect">
            <a:avLst/>
          </a:prstGeom>
          <a:noFill/>
          <a:ln>
            <a:noFill/>
          </a:ln>
        </p:spPr>
      </p:pic>
      <p:pic>
        <p:nvPicPr>
          <p:cNvPr id="95" name="Google Shape;95;p14" descr="image.png"/>
          <p:cNvPicPr preferRelativeResize="0"/>
          <p:nvPr/>
        </p:nvPicPr>
        <p:blipFill rotWithShape="1">
          <a:blip r:embed="rId6">
            <a:alphaModFix/>
          </a:blip>
          <a:srcRect/>
          <a:stretch/>
        </p:blipFill>
        <p:spPr>
          <a:xfrm>
            <a:off x="8128099" y="1543050"/>
            <a:ext cx="3492549" cy="4667250"/>
          </a:xfrm>
          <a:prstGeom prst="rect">
            <a:avLst/>
          </a:prstGeom>
          <a:noFill/>
          <a:ln>
            <a:noFill/>
          </a:ln>
        </p:spPr>
      </p:pic>
      <p:pic>
        <p:nvPicPr>
          <p:cNvPr id="96" name="Google Shape;96;p14" descr="image.png"/>
          <p:cNvPicPr preferRelativeResize="0"/>
          <p:nvPr/>
        </p:nvPicPr>
        <p:blipFill rotWithShape="1">
          <a:blip r:embed="rId7">
            <a:alphaModFix/>
          </a:blip>
          <a:srcRect/>
          <a:stretch/>
        </p:blipFill>
        <p:spPr>
          <a:xfrm>
            <a:off x="866775" y="1933575"/>
            <a:ext cx="762000" cy="762000"/>
          </a:xfrm>
          <a:prstGeom prst="rect">
            <a:avLst/>
          </a:prstGeom>
          <a:noFill/>
          <a:ln>
            <a:noFill/>
          </a:ln>
        </p:spPr>
      </p:pic>
      <p:sp>
        <p:nvSpPr>
          <p:cNvPr id="97" name="Google Shape;97;p14"/>
          <p:cNvSpPr txBox="1"/>
          <p:nvPr/>
        </p:nvSpPr>
        <p:spPr>
          <a:xfrm>
            <a:off x="866775" y="2933700"/>
            <a:ext cx="3047099"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F8FAFC"/>
                </a:solidFill>
                <a:latin typeface="Montserrat SemiBold"/>
                <a:ea typeface="Montserrat SemiBold"/>
                <a:cs typeface="Montserrat SemiBold"/>
                <a:sym typeface="Montserrat SemiBold"/>
              </a:rPr>
              <a:t>Product Owner</a:t>
            </a:r>
            <a:endParaRPr/>
          </a:p>
        </p:txBody>
      </p:sp>
      <p:sp>
        <p:nvSpPr>
          <p:cNvPr id="98" name="Google Shape;98;p14"/>
          <p:cNvSpPr txBox="1"/>
          <p:nvPr/>
        </p:nvSpPr>
        <p:spPr>
          <a:xfrm>
            <a:off x="866775" y="3381375"/>
            <a:ext cx="2901999" cy="2438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Acts as the voice of the customer and stakeholders. They are responsible for maximizing business value by strictly prioritizing the Product Backlog and ensuring the team builds what the market actually needs (Atlassian, 2024).</a:t>
            </a:r>
            <a:endParaRPr/>
          </a:p>
        </p:txBody>
      </p:sp>
      <p:pic>
        <p:nvPicPr>
          <p:cNvPr id="99" name="Google Shape;99;p14" descr="image.png"/>
          <p:cNvPicPr preferRelativeResize="0"/>
          <p:nvPr/>
        </p:nvPicPr>
        <p:blipFill rotWithShape="1">
          <a:blip r:embed="rId8">
            <a:alphaModFix/>
          </a:blip>
          <a:srcRect/>
          <a:stretch/>
        </p:blipFill>
        <p:spPr>
          <a:xfrm>
            <a:off x="4645074" y="1933575"/>
            <a:ext cx="762000" cy="762000"/>
          </a:xfrm>
          <a:prstGeom prst="rect">
            <a:avLst/>
          </a:prstGeom>
          <a:noFill/>
          <a:ln>
            <a:noFill/>
          </a:ln>
        </p:spPr>
      </p:pic>
      <p:sp>
        <p:nvSpPr>
          <p:cNvPr id="100" name="Google Shape;100;p14"/>
          <p:cNvSpPr txBox="1"/>
          <p:nvPr/>
        </p:nvSpPr>
        <p:spPr>
          <a:xfrm>
            <a:off x="4645074" y="2933700"/>
            <a:ext cx="3047099"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F8FAFC"/>
                </a:solidFill>
                <a:latin typeface="Montserrat SemiBold"/>
                <a:ea typeface="Montserrat SemiBold"/>
                <a:cs typeface="Montserrat SemiBold"/>
                <a:sym typeface="Montserrat SemiBold"/>
              </a:rPr>
              <a:t>Scrum Master</a:t>
            </a:r>
            <a:endParaRPr/>
          </a:p>
        </p:txBody>
      </p:sp>
      <p:sp>
        <p:nvSpPr>
          <p:cNvPr id="101" name="Google Shape;101;p14"/>
          <p:cNvSpPr txBox="1"/>
          <p:nvPr/>
        </p:nvSpPr>
        <p:spPr>
          <a:xfrm>
            <a:off x="4645074" y="3381375"/>
            <a:ext cx="2901999" cy="2438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Facilitates the Scrum framework and protects the team. They coach the team on Agile methodologies, host daily events, and actively remove external roadblocks so developers can focus (PMI, 2023).</a:t>
            </a:r>
            <a:endParaRPr/>
          </a:p>
        </p:txBody>
      </p:sp>
      <p:pic>
        <p:nvPicPr>
          <p:cNvPr id="102" name="Google Shape;102;p14" descr="image.png"/>
          <p:cNvPicPr preferRelativeResize="0"/>
          <p:nvPr/>
        </p:nvPicPr>
        <p:blipFill rotWithShape="1">
          <a:blip r:embed="rId9">
            <a:alphaModFix/>
          </a:blip>
          <a:srcRect/>
          <a:stretch/>
        </p:blipFill>
        <p:spPr>
          <a:xfrm>
            <a:off x="8423374" y="1933575"/>
            <a:ext cx="762000" cy="762000"/>
          </a:xfrm>
          <a:prstGeom prst="rect">
            <a:avLst/>
          </a:prstGeom>
          <a:noFill/>
          <a:ln>
            <a:noFill/>
          </a:ln>
        </p:spPr>
      </p:pic>
      <p:sp>
        <p:nvSpPr>
          <p:cNvPr id="103" name="Google Shape;103;p14"/>
          <p:cNvSpPr txBox="1"/>
          <p:nvPr/>
        </p:nvSpPr>
        <p:spPr>
          <a:xfrm>
            <a:off x="8423374" y="2933700"/>
            <a:ext cx="3047099"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F8FAFC"/>
                </a:solidFill>
                <a:latin typeface="Montserrat SemiBold"/>
                <a:ea typeface="Montserrat SemiBold"/>
                <a:cs typeface="Montserrat SemiBold"/>
                <a:sym typeface="Montserrat SemiBold"/>
              </a:rPr>
              <a:t>Developers &amp; Testers</a:t>
            </a:r>
            <a:endParaRPr/>
          </a:p>
        </p:txBody>
      </p:sp>
      <p:sp>
        <p:nvSpPr>
          <p:cNvPr id="104" name="Google Shape;104;p14"/>
          <p:cNvSpPr txBox="1"/>
          <p:nvPr/>
        </p:nvSpPr>
        <p:spPr>
          <a:xfrm>
            <a:off x="8423374" y="3381375"/>
            <a:ext cx="2901999" cy="2133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A self-organizing, cross-functional group that executes the sprint. They collaborate daily to design, code, and test software, delivering functional, high-quality increments at the end of every cycle.</a:t>
            </a:r>
            <a:endParaRPr/>
          </a:p>
        </p:txBody>
      </p:sp>
      <p:pic>
        <p:nvPicPr>
          <p:cNvPr id="105" name="Google Shape;105;p14" descr="image.png"/>
          <p:cNvPicPr preferRelativeResize="0"/>
          <p:nvPr/>
        </p:nvPicPr>
        <p:blipFill rotWithShape="1">
          <a:blip r:embed="rId10">
            <a:alphaModFix/>
          </a:blip>
          <a:srcRect/>
          <a:stretch/>
        </p:blipFill>
        <p:spPr>
          <a:xfrm>
            <a:off x="1033462" y="2124075"/>
            <a:ext cx="428625" cy="381000"/>
          </a:xfrm>
          <a:prstGeom prst="rect">
            <a:avLst/>
          </a:prstGeom>
          <a:noFill/>
          <a:ln>
            <a:noFill/>
          </a:ln>
        </p:spPr>
      </p:pic>
      <p:pic>
        <p:nvPicPr>
          <p:cNvPr id="106" name="Google Shape;106;p14" descr="image.png"/>
          <p:cNvPicPr preferRelativeResize="0"/>
          <p:nvPr/>
        </p:nvPicPr>
        <p:blipFill rotWithShape="1">
          <a:blip r:embed="rId11">
            <a:alphaModFix/>
          </a:blip>
          <a:srcRect/>
          <a:stretch/>
        </p:blipFill>
        <p:spPr>
          <a:xfrm>
            <a:off x="4835574" y="2124075"/>
            <a:ext cx="381000" cy="381000"/>
          </a:xfrm>
          <a:prstGeom prst="rect">
            <a:avLst/>
          </a:prstGeom>
          <a:noFill/>
          <a:ln>
            <a:noFill/>
          </a:ln>
        </p:spPr>
      </p:pic>
      <p:pic>
        <p:nvPicPr>
          <p:cNvPr id="107" name="Google Shape;107;p14" descr="image.png"/>
          <p:cNvPicPr preferRelativeResize="0"/>
          <p:nvPr/>
        </p:nvPicPr>
        <p:blipFill rotWithShape="1">
          <a:blip r:embed="rId12">
            <a:alphaModFix/>
          </a:blip>
          <a:srcRect/>
          <a:stretch/>
        </p:blipFill>
        <p:spPr>
          <a:xfrm>
            <a:off x="8566249" y="2124075"/>
            <a:ext cx="476250" cy="381000"/>
          </a:xfrm>
          <a:prstGeom prst="rect">
            <a:avLst/>
          </a:prstGeom>
          <a:noFill/>
          <a:ln>
            <a:noFill/>
          </a:ln>
        </p:spPr>
      </p:pic>
      <p:sp>
        <p:nvSpPr>
          <p:cNvPr id="108" name="Google Shape;108;p14"/>
          <p:cNvSpPr txBox="1"/>
          <p:nvPr/>
        </p:nvSpPr>
        <p:spPr>
          <a:xfrm>
            <a:off x="571500" y="571500"/>
            <a:ext cx="1160145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Montserrat"/>
                <a:ea typeface="Montserrat"/>
                <a:cs typeface="Montserrat"/>
                <a:sym typeface="Montserrat"/>
              </a:rPr>
              <a:t>The Agile Scrum Team: Core Roles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12"/>
        <p:cNvGrpSpPr/>
        <p:nvPr/>
      </p:nvGrpSpPr>
      <p:grpSpPr>
        <a:xfrm>
          <a:off x="0" y="0"/>
          <a:ext cx="0" cy="0"/>
          <a:chOff x="0" y="0"/>
          <a:chExt cx="0" cy="0"/>
        </a:xfrm>
      </p:grpSpPr>
      <p:pic>
        <p:nvPicPr>
          <p:cNvPr id="113" name="Google Shape;113;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4" name="Google Shape;114;p15" descr="image.png"/>
          <p:cNvPicPr preferRelativeResize="0"/>
          <p:nvPr/>
        </p:nvPicPr>
        <p:blipFill rotWithShape="1">
          <a:blip r:embed="rId4">
            <a:alphaModFix/>
          </a:blip>
          <a:srcRect/>
          <a:stretch/>
        </p:blipFill>
        <p:spPr>
          <a:xfrm>
            <a:off x="6381750" y="1971675"/>
            <a:ext cx="5238750" cy="3810000"/>
          </a:xfrm>
          <a:prstGeom prst="rect">
            <a:avLst/>
          </a:prstGeom>
          <a:noFill/>
          <a:ln>
            <a:noFill/>
          </a:ln>
        </p:spPr>
      </p:pic>
      <p:sp>
        <p:nvSpPr>
          <p:cNvPr id="115" name="Google Shape;115;p15"/>
          <p:cNvSpPr txBox="1"/>
          <p:nvPr/>
        </p:nvSpPr>
        <p:spPr>
          <a:xfrm>
            <a:off x="857250" y="1362075"/>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Backlog Creation:</a:t>
            </a:r>
            <a:r>
              <a:rPr lang="en-US" sz="1500" b="0" i="0" u="none" strike="noStrike" cap="none">
                <a:solidFill>
                  <a:srgbClr val="CBD5E1"/>
                </a:solidFill>
                <a:latin typeface="Inter"/>
                <a:ea typeface="Inter"/>
                <a:cs typeface="Inter"/>
                <a:sym typeface="Inter"/>
              </a:rPr>
              <a:t> Requirements are captured as manageable "user stories" rather than a massive technical document.</a:t>
            </a:r>
            <a:endParaRPr/>
          </a:p>
        </p:txBody>
      </p:sp>
      <p:sp>
        <p:nvSpPr>
          <p:cNvPr id="116" name="Google Shape;116;p15"/>
          <p:cNvSpPr txBox="1"/>
          <p:nvPr/>
        </p:nvSpPr>
        <p:spPr>
          <a:xfrm>
            <a:off x="857250" y="2466975"/>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Sprint Planning:</a:t>
            </a:r>
            <a:r>
              <a:rPr lang="en-US" sz="1500" b="0" i="0" u="none" strike="noStrike" cap="none">
                <a:solidFill>
                  <a:srgbClr val="CBD5E1"/>
                </a:solidFill>
                <a:latin typeface="Inter"/>
                <a:ea typeface="Inter"/>
                <a:cs typeface="Inter"/>
                <a:sym typeface="Inter"/>
              </a:rPr>
              <a:t> The team pulls high-priority stories from the backlog and commits to a 1-4 week timeframe to build them.</a:t>
            </a:r>
            <a:endParaRPr/>
          </a:p>
        </p:txBody>
      </p:sp>
      <p:sp>
        <p:nvSpPr>
          <p:cNvPr id="117" name="Google Shape;117;p15"/>
          <p:cNvSpPr txBox="1"/>
          <p:nvPr/>
        </p:nvSpPr>
        <p:spPr>
          <a:xfrm>
            <a:off x="857250" y="3571875"/>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Sprint Execution:</a:t>
            </a:r>
            <a:r>
              <a:rPr lang="en-US" sz="1500" b="0" i="0" u="none" strike="noStrike" cap="none">
                <a:solidFill>
                  <a:srgbClr val="CBD5E1"/>
                </a:solidFill>
                <a:latin typeface="Inter"/>
                <a:ea typeface="Inter"/>
                <a:cs typeface="Inter"/>
                <a:sym typeface="Inter"/>
              </a:rPr>
              <a:t> Developers and Testers work simultaneously. Daily Scrums keep everyone aligned and identify instant bottlenecks.</a:t>
            </a:r>
            <a:endParaRPr/>
          </a:p>
        </p:txBody>
      </p:sp>
      <p:sp>
        <p:nvSpPr>
          <p:cNvPr id="118" name="Google Shape;118;p15"/>
          <p:cNvSpPr txBox="1"/>
          <p:nvPr/>
        </p:nvSpPr>
        <p:spPr>
          <a:xfrm>
            <a:off x="857250" y="4676775"/>
            <a:ext cx="4953000"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Review &amp; Retrospective:</a:t>
            </a:r>
            <a:r>
              <a:rPr lang="en-US" sz="1500" b="0" i="0" u="none" strike="noStrike" cap="none">
                <a:solidFill>
                  <a:srgbClr val="CBD5E1"/>
                </a:solidFill>
                <a:latin typeface="Inter"/>
                <a:ea typeface="Inter"/>
                <a:cs typeface="Inter"/>
                <a:sym typeface="Inter"/>
              </a:rPr>
              <a:t> Working software is demonstrated to stakeholders for immediate feedback, and the team analyzes their internal processes to improve the next sprint (Microsoft, 2023).</a:t>
            </a:r>
            <a:endParaRPr/>
          </a:p>
        </p:txBody>
      </p:sp>
      <p:pic>
        <p:nvPicPr>
          <p:cNvPr id="119" name="Google Shape;119;p15" descr="image.png"/>
          <p:cNvPicPr preferRelativeResize="0"/>
          <p:nvPr/>
        </p:nvPicPr>
        <p:blipFill rotWithShape="1">
          <a:blip r:embed="rId5">
            <a:alphaModFix/>
          </a:blip>
          <a:srcRect/>
          <a:stretch/>
        </p:blipFill>
        <p:spPr>
          <a:xfrm>
            <a:off x="6391275" y="1981200"/>
            <a:ext cx="5219700" cy="3790950"/>
          </a:xfrm>
          <a:prstGeom prst="rect">
            <a:avLst/>
          </a:prstGeom>
          <a:noFill/>
          <a:ln>
            <a:noFill/>
          </a:ln>
        </p:spPr>
      </p:pic>
      <p:sp>
        <p:nvSpPr>
          <p:cNvPr id="120" name="Google Shape;120;p15"/>
          <p:cNvSpPr txBox="1"/>
          <p:nvPr/>
        </p:nvSpPr>
        <p:spPr>
          <a:xfrm>
            <a:off x="571500" y="466725"/>
            <a:ext cx="1160145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Montserrat"/>
                <a:ea typeface="Montserrat"/>
                <a:cs typeface="Montserrat"/>
                <a:sym typeface="Montserrat"/>
              </a:rPr>
              <a:t>The Agile SDLC: Iterative Phases</a:t>
            </a:r>
            <a:endParaRPr/>
          </a:p>
        </p:txBody>
      </p:sp>
      <p:pic>
        <p:nvPicPr>
          <p:cNvPr id="121" name="Google Shape;121;p15" descr="image.png"/>
          <p:cNvPicPr preferRelativeResize="0"/>
          <p:nvPr/>
        </p:nvPicPr>
        <p:blipFill rotWithShape="1">
          <a:blip r:embed="rId6">
            <a:alphaModFix/>
          </a:blip>
          <a:srcRect/>
          <a:stretch/>
        </p:blipFill>
        <p:spPr>
          <a:xfrm>
            <a:off x="571500" y="1381125"/>
            <a:ext cx="95250" cy="200025"/>
          </a:xfrm>
          <a:prstGeom prst="rect">
            <a:avLst/>
          </a:prstGeom>
          <a:noFill/>
          <a:ln>
            <a:noFill/>
          </a:ln>
        </p:spPr>
      </p:pic>
      <p:pic>
        <p:nvPicPr>
          <p:cNvPr id="122" name="Google Shape;122;p15" descr="image.png"/>
          <p:cNvPicPr preferRelativeResize="0"/>
          <p:nvPr/>
        </p:nvPicPr>
        <p:blipFill rotWithShape="1">
          <a:blip r:embed="rId6">
            <a:alphaModFix/>
          </a:blip>
          <a:srcRect/>
          <a:stretch/>
        </p:blipFill>
        <p:spPr>
          <a:xfrm>
            <a:off x="571500" y="2486025"/>
            <a:ext cx="95250" cy="200025"/>
          </a:xfrm>
          <a:prstGeom prst="rect">
            <a:avLst/>
          </a:prstGeom>
          <a:noFill/>
          <a:ln>
            <a:noFill/>
          </a:ln>
        </p:spPr>
      </p:pic>
      <p:pic>
        <p:nvPicPr>
          <p:cNvPr id="123" name="Google Shape;123;p15" descr="image.png"/>
          <p:cNvPicPr preferRelativeResize="0"/>
          <p:nvPr/>
        </p:nvPicPr>
        <p:blipFill rotWithShape="1">
          <a:blip r:embed="rId6">
            <a:alphaModFix/>
          </a:blip>
          <a:srcRect/>
          <a:stretch/>
        </p:blipFill>
        <p:spPr>
          <a:xfrm>
            <a:off x="571500" y="3590925"/>
            <a:ext cx="95250" cy="200025"/>
          </a:xfrm>
          <a:prstGeom prst="rect">
            <a:avLst/>
          </a:prstGeom>
          <a:noFill/>
          <a:ln>
            <a:noFill/>
          </a:ln>
        </p:spPr>
      </p:pic>
      <p:pic>
        <p:nvPicPr>
          <p:cNvPr id="124" name="Google Shape;124;p15" descr="image.png"/>
          <p:cNvPicPr preferRelativeResize="0"/>
          <p:nvPr/>
        </p:nvPicPr>
        <p:blipFill rotWithShape="1">
          <a:blip r:embed="rId6">
            <a:alphaModFix/>
          </a:blip>
          <a:srcRect/>
          <a:stretch/>
        </p:blipFill>
        <p:spPr>
          <a:xfrm>
            <a:off x="571500" y="4695825"/>
            <a:ext cx="95250" cy="200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8"/>
        <p:cNvGrpSpPr/>
        <p:nvPr/>
      </p:nvGrpSpPr>
      <p:grpSpPr>
        <a:xfrm>
          <a:off x="0" y="0"/>
          <a:ext cx="0" cy="0"/>
          <a:chOff x="0" y="0"/>
          <a:chExt cx="0" cy="0"/>
        </a:xfrm>
      </p:grpSpPr>
      <p:pic>
        <p:nvPicPr>
          <p:cNvPr id="129" name="Google Shape;129;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0" name="Google Shape;130;p16" descr="image.png"/>
          <p:cNvPicPr preferRelativeResize="0"/>
          <p:nvPr/>
        </p:nvPicPr>
        <p:blipFill rotWithShape="1">
          <a:blip r:embed="rId4">
            <a:alphaModFix/>
          </a:blip>
          <a:srcRect/>
          <a:stretch/>
        </p:blipFill>
        <p:spPr>
          <a:xfrm>
            <a:off x="571500" y="1971675"/>
            <a:ext cx="5238750" cy="3810000"/>
          </a:xfrm>
          <a:prstGeom prst="rect">
            <a:avLst/>
          </a:prstGeom>
          <a:noFill/>
          <a:ln>
            <a:noFill/>
          </a:ln>
        </p:spPr>
      </p:pic>
      <p:pic>
        <p:nvPicPr>
          <p:cNvPr id="131" name="Google Shape;131;p16" descr="image.png"/>
          <p:cNvPicPr preferRelativeResize="0"/>
          <p:nvPr/>
        </p:nvPicPr>
        <p:blipFill rotWithShape="1">
          <a:blip r:embed="rId5">
            <a:alphaModFix/>
          </a:blip>
          <a:srcRect/>
          <a:stretch/>
        </p:blipFill>
        <p:spPr>
          <a:xfrm>
            <a:off x="581025" y="1981200"/>
            <a:ext cx="5219700" cy="3790950"/>
          </a:xfrm>
          <a:prstGeom prst="rect">
            <a:avLst/>
          </a:prstGeom>
          <a:noFill/>
          <a:ln>
            <a:noFill/>
          </a:ln>
        </p:spPr>
      </p:pic>
      <p:sp>
        <p:nvSpPr>
          <p:cNvPr id="132" name="Google Shape;132;p16"/>
          <p:cNvSpPr txBox="1"/>
          <p:nvPr/>
        </p:nvSpPr>
        <p:spPr>
          <a:xfrm>
            <a:off x="6667500" y="1762125"/>
            <a:ext cx="495300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Sequential Rigidity:</a:t>
            </a:r>
            <a:r>
              <a:rPr lang="en-US" sz="1500" b="0" i="0" u="none" strike="noStrike" cap="none">
                <a:solidFill>
                  <a:srgbClr val="CBD5E1"/>
                </a:solidFill>
                <a:latin typeface="Inter"/>
                <a:ea typeface="Inter"/>
                <a:cs typeface="Inter"/>
                <a:sym typeface="Inter"/>
              </a:rPr>
              <a:t> Waterfall flows strictly downward: Requirements → Design → Implementation → Testing → Deployment. You cannot move forward until the previous phase is 100% complete.</a:t>
            </a:r>
            <a:endParaRPr/>
          </a:p>
        </p:txBody>
      </p:sp>
      <p:sp>
        <p:nvSpPr>
          <p:cNvPr id="133" name="Google Shape;133;p16"/>
          <p:cNvSpPr txBox="1"/>
          <p:nvPr/>
        </p:nvSpPr>
        <p:spPr>
          <a:xfrm>
            <a:off x="6667500" y="3171825"/>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Impact on SNHU Travel:</a:t>
            </a:r>
            <a:r>
              <a:rPr lang="en-US" sz="1500" b="0" i="0" u="none" strike="noStrike" cap="none">
                <a:solidFill>
                  <a:srgbClr val="CBD5E1"/>
                </a:solidFill>
                <a:latin typeface="Inter"/>
                <a:ea typeface="Inter"/>
                <a:cs typeface="Inter"/>
                <a:sym typeface="Inter"/>
              </a:rPr>
              <a:t> If we used Waterfall, the "Top Destinations" feature would have required complete upfront design.</a:t>
            </a:r>
            <a:endParaRPr/>
          </a:p>
        </p:txBody>
      </p:sp>
      <p:sp>
        <p:nvSpPr>
          <p:cNvPr id="134" name="Google Shape;134;p16"/>
          <p:cNvSpPr txBox="1"/>
          <p:nvPr/>
        </p:nvSpPr>
        <p:spPr>
          <a:xfrm>
            <a:off x="6667500" y="4276725"/>
            <a:ext cx="4953000"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The Cost of Change:</a:t>
            </a:r>
            <a:r>
              <a:rPr lang="en-US" sz="1500" b="0" i="0" u="none" strike="noStrike" cap="none">
                <a:solidFill>
                  <a:srgbClr val="CBD5E1"/>
                </a:solidFill>
                <a:latin typeface="Inter"/>
                <a:ea typeface="Inter"/>
                <a:cs typeface="Inter"/>
                <a:sym typeface="Inter"/>
              </a:rPr>
              <a:t> When the focus group requested changes mid-project, Waterfall would have required rewriting foundational design documents, causing severe timeline delays and massive sunk engineering costs (IBM, 2024).</a:t>
            </a:r>
            <a:endParaRPr/>
          </a:p>
        </p:txBody>
      </p:sp>
      <p:sp>
        <p:nvSpPr>
          <p:cNvPr id="135" name="Google Shape;135;p16"/>
          <p:cNvSpPr txBox="1"/>
          <p:nvPr/>
        </p:nvSpPr>
        <p:spPr>
          <a:xfrm>
            <a:off x="571500" y="571500"/>
            <a:ext cx="1160145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Montserrat"/>
                <a:ea typeface="Montserrat"/>
                <a:cs typeface="Montserrat"/>
                <a:sym typeface="Montserrat"/>
              </a:rPr>
              <a:t>The Waterfall Alternative</a:t>
            </a:r>
            <a:endParaRPr/>
          </a:p>
        </p:txBody>
      </p:sp>
      <p:pic>
        <p:nvPicPr>
          <p:cNvPr id="136" name="Google Shape;136;p16" descr="image.png"/>
          <p:cNvPicPr preferRelativeResize="0"/>
          <p:nvPr/>
        </p:nvPicPr>
        <p:blipFill rotWithShape="1">
          <a:blip r:embed="rId6">
            <a:alphaModFix/>
          </a:blip>
          <a:srcRect/>
          <a:stretch/>
        </p:blipFill>
        <p:spPr>
          <a:xfrm>
            <a:off x="6381750" y="1781175"/>
            <a:ext cx="95250" cy="200025"/>
          </a:xfrm>
          <a:prstGeom prst="rect">
            <a:avLst/>
          </a:prstGeom>
          <a:noFill/>
          <a:ln>
            <a:noFill/>
          </a:ln>
        </p:spPr>
      </p:pic>
      <p:pic>
        <p:nvPicPr>
          <p:cNvPr id="137" name="Google Shape;137;p16" descr="image.png"/>
          <p:cNvPicPr preferRelativeResize="0"/>
          <p:nvPr/>
        </p:nvPicPr>
        <p:blipFill rotWithShape="1">
          <a:blip r:embed="rId6">
            <a:alphaModFix/>
          </a:blip>
          <a:srcRect/>
          <a:stretch/>
        </p:blipFill>
        <p:spPr>
          <a:xfrm>
            <a:off x="6381750" y="3190875"/>
            <a:ext cx="95250" cy="200025"/>
          </a:xfrm>
          <a:prstGeom prst="rect">
            <a:avLst/>
          </a:prstGeom>
          <a:noFill/>
          <a:ln>
            <a:noFill/>
          </a:ln>
        </p:spPr>
      </p:pic>
      <p:pic>
        <p:nvPicPr>
          <p:cNvPr id="138" name="Google Shape;138;p16" descr="image.png"/>
          <p:cNvPicPr preferRelativeResize="0"/>
          <p:nvPr/>
        </p:nvPicPr>
        <p:blipFill rotWithShape="1">
          <a:blip r:embed="rId6">
            <a:alphaModFix/>
          </a:blip>
          <a:srcRect/>
          <a:stretch/>
        </p:blipFill>
        <p:spPr>
          <a:xfrm>
            <a:off x="6381750" y="4295775"/>
            <a:ext cx="95250" cy="200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42"/>
        <p:cNvGrpSpPr/>
        <p:nvPr/>
      </p:nvGrpSpPr>
      <p:grpSpPr>
        <a:xfrm>
          <a:off x="0" y="0"/>
          <a:ext cx="0" cy="0"/>
          <a:chOff x="0" y="0"/>
          <a:chExt cx="0" cy="0"/>
        </a:xfrm>
      </p:grpSpPr>
      <p:pic>
        <p:nvPicPr>
          <p:cNvPr id="143" name="Google Shape;143;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4" name="Google Shape;144;p17" descr="image.png"/>
          <p:cNvPicPr preferRelativeResize="0"/>
          <p:nvPr/>
        </p:nvPicPr>
        <p:blipFill rotWithShape="1">
          <a:blip r:embed="rId4">
            <a:alphaModFix/>
          </a:blip>
          <a:srcRect/>
          <a:stretch/>
        </p:blipFill>
        <p:spPr>
          <a:xfrm>
            <a:off x="571500" y="1195387"/>
            <a:ext cx="5238750" cy="5362575"/>
          </a:xfrm>
          <a:prstGeom prst="rect">
            <a:avLst/>
          </a:prstGeom>
          <a:noFill/>
          <a:ln>
            <a:noFill/>
          </a:ln>
        </p:spPr>
      </p:pic>
      <p:pic>
        <p:nvPicPr>
          <p:cNvPr id="145" name="Google Shape;145;p17" descr="image.png"/>
          <p:cNvPicPr preferRelativeResize="0"/>
          <p:nvPr/>
        </p:nvPicPr>
        <p:blipFill rotWithShape="1">
          <a:blip r:embed="rId4">
            <a:alphaModFix/>
          </a:blip>
          <a:srcRect/>
          <a:stretch/>
        </p:blipFill>
        <p:spPr>
          <a:xfrm>
            <a:off x="6381750" y="1195387"/>
            <a:ext cx="5238750" cy="5362575"/>
          </a:xfrm>
          <a:prstGeom prst="rect">
            <a:avLst/>
          </a:prstGeom>
          <a:noFill/>
          <a:ln>
            <a:noFill/>
          </a:ln>
        </p:spPr>
      </p:pic>
      <p:sp>
        <p:nvSpPr>
          <p:cNvPr id="146" name="Google Shape;146;p17"/>
          <p:cNvSpPr txBox="1"/>
          <p:nvPr/>
        </p:nvSpPr>
        <p:spPr>
          <a:xfrm>
            <a:off x="1057275" y="1681162"/>
            <a:ext cx="4480560" cy="3905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38BDF8"/>
                </a:solidFill>
                <a:latin typeface="Montserrat SemiBold"/>
                <a:ea typeface="Montserrat SemiBold"/>
                <a:cs typeface="Montserrat SemiBold"/>
                <a:sym typeface="Montserrat SemiBold"/>
              </a:rPr>
              <a:t>When to use Agile</a:t>
            </a:r>
            <a:endParaRPr/>
          </a:p>
        </p:txBody>
      </p:sp>
      <p:sp>
        <p:nvSpPr>
          <p:cNvPr id="147" name="Google Shape;147;p17"/>
          <p:cNvSpPr/>
          <p:nvPr/>
        </p:nvSpPr>
        <p:spPr>
          <a:xfrm>
            <a:off x="1057275" y="2195512"/>
            <a:ext cx="4267200" cy="190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7"/>
          <p:cNvSpPr txBox="1"/>
          <p:nvPr/>
        </p:nvSpPr>
        <p:spPr>
          <a:xfrm>
            <a:off x="6867525" y="1681162"/>
            <a:ext cx="4480560" cy="3905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38BDF8"/>
                </a:solidFill>
                <a:latin typeface="Montserrat SemiBold"/>
                <a:ea typeface="Montserrat SemiBold"/>
                <a:cs typeface="Montserrat SemiBold"/>
                <a:sym typeface="Montserrat SemiBold"/>
              </a:rPr>
              <a:t>When to use Waterfall</a:t>
            </a:r>
            <a:endParaRPr/>
          </a:p>
        </p:txBody>
      </p:sp>
      <p:sp>
        <p:nvSpPr>
          <p:cNvPr id="149" name="Google Shape;149;p17"/>
          <p:cNvSpPr/>
          <p:nvPr/>
        </p:nvSpPr>
        <p:spPr>
          <a:xfrm>
            <a:off x="6867525" y="2195512"/>
            <a:ext cx="4267200" cy="190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17"/>
          <p:cNvSpPr txBox="1"/>
          <p:nvPr/>
        </p:nvSpPr>
        <p:spPr>
          <a:xfrm>
            <a:off x="1343025" y="2452687"/>
            <a:ext cx="39814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Projects with dynamic, evolving requirements.</a:t>
            </a:r>
            <a:endParaRPr/>
          </a:p>
        </p:txBody>
      </p:sp>
      <p:sp>
        <p:nvSpPr>
          <p:cNvPr id="151" name="Google Shape;151;p17"/>
          <p:cNvSpPr txBox="1"/>
          <p:nvPr/>
        </p:nvSpPr>
        <p:spPr>
          <a:xfrm>
            <a:off x="1343025" y="3252787"/>
            <a:ext cx="39814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When rapid stakeholder feedback is critical to success.</a:t>
            </a:r>
            <a:endParaRPr/>
          </a:p>
        </p:txBody>
      </p:sp>
      <p:sp>
        <p:nvSpPr>
          <p:cNvPr id="152" name="Google Shape;152;p17"/>
          <p:cNvSpPr txBox="1"/>
          <p:nvPr/>
        </p:nvSpPr>
        <p:spPr>
          <a:xfrm>
            <a:off x="1343025" y="4052887"/>
            <a:ext cx="3981450" cy="1828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Our Experience:</a:t>
            </a:r>
            <a:r>
              <a:rPr lang="en-US" sz="1500" b="0" i="0" u="none" strike="noStrike" cap="none">
                <a:solidFill>
                  <a:srgbClr val="CBD5E1"/>
                </a:solidFill>
                <a:latin typeface="Inter"/>
                <a:ea typeface="Inter"/>
                <a:cs typeface="Inter"/>
                <a:sym typeface="Inter"/>
              </a:rPr>
              <a:t> SNHU Travel thrived on Agile because consumer application trends shift rapidly. Agile allowed us to pivot our features mid-sprint based on focus group feedback without derailing the launch (PMI, 2023).</a:t>
            </a:r>
            <a:endParaRPr/>
          </a:p>
        </p:txBody>
      </p:sp>
      <p:sp>
        <p:nvSpPr>
          <p:cNvPr id="153" name="Google Shape;153;p17"/>
          <p:cNvSpPr txBox="1"/>
          <p:nvPr/>
        </p:nvSpPr>
        <p:spPr>
          <a:xfrm>
            <a:off x="7153275" y="2452687"/>
            <a:ext cx="39814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Projects with extremely predictable, static requirements.</a:t>
            </a:r>
            <a:endParaRPr/>
          </a:p>
        </p:txBody>
      </p:sp>
      <p:sp>
        <p:nvSpPr>
          <p:cNvPr id="154" name="Google Shape;154;p17"/>
          <p:cNvSpPr txBox="1"/>
          <p:nvPr/>
        </p:nvSpPr>
        <p:spPr>
          <a:xfrm>
            <a:off x="7153275" y="3252787"/>
            <a:ext cx="398145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Strictly regulated industries (e.g., medical devices, aerospace) where exhaustive compliance documentation is required before coding begins.</a:t>
            </a:r>
            <a:endParaRPr/>
          </a:p>
        </p:txBody>
      </p:sp>
      <p:sp>
        <p:nvSpPr>
          <p:cNvPr id="155" name="Google Shape;155;p17"/>
          <p:cNvSpPr txBox="1"/>
          <p:nvPr/>
        </p:nvSpPr>
        <p:spPr>
          <a:xfrm>
            <a:off x="7153275" y="4662487"/>
            <a:ext cx="39814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When the client knows exactly what they want upfront and will not deviate (IBM, 2024).</a:t>
            </a:r>
            <a:endParaRPr/>
          </a:p>
        </p:txBody>
      </p:sp>
      <p:sp>
        <p:nvSpPr>
          <p:cNvPr id="156" name="Google Shape;156;p17"/>
          <p:cNvSpPr txBox="1"/>
          <p:nvPr/>
        </p:nvSpPr>
        <p:spPr>
          <a:xfrm>
            <a:off x="571500" y="300037"/>
            <a:ext cx="1160145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Montserrat"/>
                <a:ea typeface="Montserrat"/>
                <a:cs typeface="Montserrat"/>
                <a:sym typeface="Montserrat"/>
              </a:rPr>
              <a:t>Choosing the Right Approach</a:t>
            </a:r>
            <a:endParaRPr/>
          </a:p>
        </p:txBody>
      </p:sp>
      <p:pic>
        <p:nvPicPr>
          <p:cNvPr id="157" name="Google Shape;157;p17" descr="image.png"/>
          <p:cNvPicPr preferRelativeResize="0"/>
          <p:nvPr/>
        </p:nvPicPr>
        <p:blipFill rotWithShape="1">
          <a:blip r:embed="rId5">
            <a:alphaModFix/>
          </a:blip>
          <a:srcRect/>
          <a:stretch/>
        </p:blipFill>
        <p:spPr>
          <a:xfrm>
            <a:off x="1057275" y="2471737"/>
            <a:ext cx="95250" cy="200025"/>
          </a:xfrm>
          <a:prstGeom prst="rect">
            <a:avLst/>
          </a:prstGeom>
          <a:noFill/>
          <a:ln>
            <a:noFill/>
          </a:ln>
        </p:spPr>
      </p:pic>
      <p:pic>
        <p:nvPicPr>
          <p:cNvPr id="158" name="Google Shape;158;p17" descr="image.png"/>
          <p:cNvPicPr preferRelativeResize="0"/>
          <p:nvPr/>
        </p:nvPicPr>
        <p:blipFill rotWithShape="1">
          <a:blip r:embed="rId5">
            <a:alphaModFix/>
          </a:blip>
          <a:srcRect/>
          <a:stretch/>
        </p:blipFill>
        <p:spPr>
          <a:xfrm>
            <a:off x="1057275" y="3271837"/>
            <a:ext cx="95250" cy="200025"/>
          </a:xfrm>
          <a:prstGeom prst="rect">
            <a:avLst/>
          </a:prstGeom>
          <a:noFill/>
          <a:ln>
            <a:noFill/>
          </a:ln>
        </p:spPr>
      </p:pic>
      <p:pic>
        <p:nvPicPr>
          <p:cNvPr id="159" name="Google Shape;159;p17" descr="image.png"/>
          <p:cNvPicPr preferRelativeResize="0"/>
          <p:nvPr/>
        </p:nvPicPr>
        <p:blipFill rotWithShape="1">
          <a:blip r:embed="rId5">
            <a:alphaModFix/>
          </a:blip>
          <a:srcRect/>
          <a:stretch/>
        </p:blipFill>
        <p:spPr>
          <a:xfrm>
            <a:off x="1057275" y="4071937"/>
            <a:ext cx="95250" cy="200025"/>
          </a:xfrm>
          <a:prstGeom prst="rect">
            <a:avLst/>
          </a:prstGeom>
          <a:noFill/>
          <a:ln>
            <a:noFill/>
          </a:ln>
        </p:spPr>
      </p:pic>
      <p:pic>
        <p:nvPicPr>
          <p:cNvPr id="160" name="Google Shape;160;p17" descr="image.png"/>
          <p:cNvPicPr preferRelativeResize="0"/>
          <p:nvPr/>
        </p:nvPicPr>
        <p:blipFill rotWithShape="1">
          <a:blip r:embed="rId5">
            <a:alphaModFix/>
          </a:blip>
          <a:srcRect/>
          <a:stretch/>
        </p:blipFill>
        <p:spPr>
          <a:xfrm>
            <a:off x="6867525" y="2471737"/>
            <a:ext cx="95250" cy="200025"/>
          </a:xfrm>
          <a:prstGeom prst="rect">
            <a:avLst/>
          </a:prstGeom>
          <a:noFill/>
          <a:ln>
            <a:noFill/>
          </a:ln>
        </p:spPr>
      </p:pic>
      <p:pic>
        <p:nvPicPr>
          <p:cNvPr id="161" name="Google Shape;161;p17" descr="image.png"/>
          <p:cNvPicPr preferRelativeResize="0"/>
          <p:nvPr/>
        </p:nvPicPr>
        <p:blipFill rotWithShape="1">
          <a:blip r:embed="rId5">
            <a:alphaModFix/>
          </a:blip>
          <a:srcRect/>
          <a:stretch/>
        </p:blipFill>
        <p:spPr>
          <a:xfrm>
            <a:off x="6867525" y="3271837"/>
            <a:ext cx="95250" cy="200025"/>
          </a:xfrm>
          <a:prstGeom prst="rect">
            <a:avLst/>
          </a:prstGeom>
          <a:noFill/>
          <a:ln>
            <a:noFill/>
          </a:ln>
        </p:spPr>
      </p:pic>
      <p:pic>
        <p:nvPicPr>
          <p:cNvPr id="162" name="Google Shape;162;p17" descr="image.png"/>
          <p:cNvPicPr preferRelativeResize="0"/>
          <p:nvPr/>
        </p:nvPicPr>
        <p:blipFill rotWithShape="1">
          <a:blip r:embed="rId5">
            <a:alphaModFix/>
          </a:blip>
          <a:srcRect/>
          <a:stretch/>
        </p:blipFill>
        <p:spPr>
          <a:xfrm>
            <a:off x="6867525" y="4681537"/>
            <a:ext cx="95250" cy="200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66"/>
        <p:cNvGrpSpPr/>
        <p:nvPr/>
      </p:nvGrpSpPr>
      <p:grpSpPr>
        <a:xfrm>
          <a:off x="0" y="0"/>
          <a:ext cx="0" cy="0"/>
          <a:chOff x="0" y="0"/>
          <a:chExt cx="0" cy="0"/>
        </a:xfrm>
      </p:grpSpPr>
      <p:pic>
        <p:nvPicPr>
          <p:cNvPr id="167" name="Google Shape;16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8" name="Google Shape;168;p18"/>
          <p:cNvSpPr txBox="1"/>
          <p:nvPr/>
        </p:nvSpPr>
        <p:spPr>
          <a:xfrm>
            <a:off x="1333500" y="2577554"/>
            <a:ext cx="97155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Atlassian. (2024). </a:t>
            </a:r>
            <a:r>
              <a:rPr lang="en-US" sz="1350" b="0" i="1" u="none" strike="noStrike" cap="none">
                <a:solidFill>
                  <a:srgbClr val="CBD5E1"/>
                </a:solidFill>
                <a:latin typeface="Inter"/>
                <a:ea typeface="Inter"/>
                <a:cs typeface="Inter"/>
                <a:sym typeface="Inter"/>
              </a:rPr>
              <a:t>The ultimate guide to Agile project management</a:t>
            </a:r>
            <a:r>
              <a:rPr lang="en-US" sz="1350" b="0" i="0" u="none" strike="noStrike" cap="none">
                <a:solidFill>
                  <a:srgbClr val="CBD5E1"/>
                </a:solidFill>
                <a:latin typeface="Inter"/>
                <a:ea typeface="Inter"/>
                <a:cs typeface="Inter"/>
                <a:sym typeface="Inter"/>
              </a:rPr>
              <a:t>. Atlassian. https://www.atlassian.com/agile/project-management</a:t>
            </a:r>
            <a:endParaRPr/>
          </a:p>
        </p:txBody>
      </p:sp>
      <p:sp>
        <p:nvSpPr>
          <p:cNvPr id="169" name="Google Shape;169;p18"/>
          <p:cNvSpPr txBox="1"/>
          <p:nvPr/>
        </p:nvSpPr>
        <p:spPr>
          <a:xfrm>
            <a:off x="1333500" y="3364259"/>
            <a:ext cx="97155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IBM. (2024). </a:t>
            </a:r>
            <a:r>
              <a:rPr lang="en-US" sz="1350" b="0" i="1" u="none" strike="noStrike" cap="none">
                <a:solidFill>
                  <a:srgbClr val="CBD5E1"/>
                </a:solidFill>
                <a:latin typeface="Inter"/>
                <a:ea typeface="Inter"/>
                <a:cs typeface="Inter"/>
                <a:sym typeface="Inter"/>
              </a:rPr>
              <a:t>What is Agile methodology?</a:t>
            </a:r>
            <a:r>
              <a:rPr lang="en-US" sz="1350" b="0" i="0" u="none" strike="noStrike" cap="none">
                <a:solidFill>
                  <a:srgbClr val="CBD5E1"/>
                </a:solidFill>
                <a:latin typeface="Inter"/>
                <a:ea typeface="Inter"/>
                <a:cs typeface="Inter"/>
                <a:sym typeface="Inter"/>
              </a:rPr>
              <a:t> IBM. https://www.ibm.com/topics/agile-methodology</a:t>
            </a:r>
            <a:endParaRPr/>
          </a:p>
        </p:txBody>
      </p:sp>
      <p:sp>
        <p:nvSpPr>
          <p:cNvPr id="170" name="Google Shape;170;p18"/>
          <p:cNvSpPr txBox="1"/>
          <p:nvPr/>
        </p:nvSpPr>
        <p:spPr>
          <a:xfrm>
            <a:off x="1333500" y="3876675"/>
            <a:ext cx="97155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Microsoft. (2023). </a:t>
            </a:r>
            <a:r>
              <a:rPr lang="en-US" sz="1350" b="0" i="1" u="none" strike="noStrike" cap="none">
                <a:solidFill>
                  <a:srgbClr val="CBD5E1"/>
                </a:solidFill>
                <a:latin typeface="Inter"/>
                <a:ea typeface="Inter"/>
                <a:cs typeface="Inter"/>
                <a:sym typeface="Inter"/>
              </a:rPr>
              <a:t>What is Agile?</a:t>
            </a:r>
            <a:r>
              <a:rPr lang="en-US" sz="1350" b="0" i="0" u="none" strike="noStrike" cap="none">
                <a:solidFill>
                  <a:srgbClr val="CBD5E1"/>
                </a:solidFill>
                <a:latin typeface="Inter"/>
                <a:ea typeface="Inter"/>
                <a:cs typeface="Inter"/>
                <a:sym typeface="Inter"/>
              </a:rPr>
              <a:t> Microsoft Azure. https://azure.microsoft.com/en-us/resources/cloud-computing-dictionary/what-is-agile/</a:t>
            </a:r>
            <a:endParaRPr/>
          </a:p>
        </p:txBody>
      </p:sp>
      <p:sp>
        <p:nvSpPr>
          <p:cNvPr id="171" name="Google Shape;171;p18"/>
          <p:cNvSpPr txBox="1"/>
          <p:nvPr/>
        </p:nvSpPr>
        <p:spPr>
          <a:xfrm>
            <a:off x="1333500" y="4663380"/>
            <a:ext cx="97155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Project Management Institute. (2023). </a:t>
            </a:r>
            <a:r>
              <a:rPr lang="en-US" sz="1350" b="0" i="1" u="none" strike="noStrike" cap="none">
                <a:solidFill>
                  <a:srgbClr val="CBD5E1"/>
                </a:solidFill>
                <a:latin typeface="Inter"/>
                <a:ea typeface="Inter"/>
                <a:cs typeface="Inter"/>
                <a:sym typeface="Inter"/>
              </a:rPr>
              <a:t>Agile practice guide</a:t>
            </a:r>
            <a:r>
              <a:rPr lang="en-US" sz="1350" b="0" i="0" u="none" strike="noStrike" cap="none">
                <a:solidFill>
                  <a:srgbClr val="CBD5E1"/>
                </a:solidFill>
                <a:latin typeface="Inter"/>
                <a:ea typeface="Inter"/>
                <a:cs typeface="Inter"/>
                <a:sym typeface="Inter"/>
              </a:rPr>
              <a:t> (2nd ed.). Project Management Institute.</a:t>
            </a:r>
            <a:endParaRPr/>
          </a:p>
        </p:txBody>
      </p:sp>
      <p:sp>
        <p:nvSpPr>
          <p:cNvPr id="172" name="Google Shape;172;p18"/>
          <p:cNvSpPr txBox="1"/>
          <p:nvPr/>
        </p:nvSpPr>
        <p:spPr>
          <a:xfrm>
            <a:off x="571500" y="571500"/>
            <a:ext cx="1160145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Montserrat"/>
                <a:ea typeface="Montserrat"/>
                <a:cs typeface="Montserrat"/>
                <a:sym typeface="Montserrat"/>
              </a:rPr>
              <a:t>References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76"/>
        <p:cNvGrpSpPr/>
        <p:nvPr/>
      </p:nvGrpSpPr>
      <p:grpSpPr>
        <a:xfrm>
          <a:off x="0" y="0"/>
          <a:ext cx="0" cy="0"/>
          <a:chOff x="0" y="0"/>
          <a:chExt cx="0" cy="0"/>
        </a:xfrm>
      </p:grpSpPr>
      <p:pic>
        <p:nvPicPr>
          <p:cNvPr id="177" name="Google Shape;177;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8" name="Google Shape;178;p19"/>
          <p:cNvSpPr/>
          <p:nvPr/>
        </p:nvSpPr>
        <p:spPr>
          <a:xfrm>
            <a:off x="571500" y="2506116"/>
            <a:ext cx="11049000" cy="118095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9" name="Google Shape;179;p19"/>
          <p:cNvSpPr/>
          <p:nvPr/>
        </p:nvSpPr>
        <p:spPr>
          <a:xfrm>
            <a:off x="571500" y="3687067"/>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0" name="Google Shape;180;p19"/>
          <p:cNvSpPr/>
          <p:nvPr/>
        </p:nvSpPr>
        <p:spPr>
          <a:xfrm>
            <a:off x="571500" y="3677542"/>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1" name="Google Shape;181;p19"/>
          <p:cNvSpPr/>
          <p:nvPr/>
        </p:nvSpPr>
        <p:spPr>
          <a:xfrm>
            <a:off x="571500" y="3677542"/>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2" name="Google Shape;182;p19"/>
          <p:cNvSpPr/>
          <p:nvPr/>
        </p:nvSpPr>
        <p:spPr>
          <a:xfrm>
            <a:off x="571500" y="4462313"/>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3" name="Google Shape;183;p19"/>
          <p:cNvSpPr/>
          <p:nvPr/>
        </p:nvSpPr>
        <p:spPr>
          <a:xfrm>
            <a:off x="571500" y="4462313"/>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84" name="Google Shape;184;p19" descr="image.png"/>
          <p:cNvPicPr preferRelativeResize="0"/>
          <p:nvPr/>
        </p:nvPicPr>
        <p:blipFill rotWithShape="1">
          <a:blip r:embed="rId4">
            <a:alphaModFix/>
          </a:blip>
          <a:srcRect/>
          <a:stretch/>
        </p:blipFill>
        <p:spPr>
          <a:xfrm>
            <a:off x="571500" y="2853630"/>
            <a:ext cx="857250" cy="476250"/>
          </a:xfrm>
          <a:prstGeom prst="rect">
            <a:avLst/>
          </a:prstGeom>
          <a:noFill/>
          <a:ln>
            <a:noFill/>
          </a:ln>
        </p:spPr>
      </p:pic>
      <p:sp>
        <p:nvSpPr>
          <p:cNvPr id="185" name="Google Shape;185;p19"/>
          <p:cNvSpPr txBox="1"/>
          <p:nvPr/>
        </p:nvSpPr>
        <p:spPr>
          <a:xfrm>
            <a:off x="1666875" y="2648991"/>
            <a:ext cx="9953625" cy="5942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CBD5E1"/>
                </a:solidFill>
                <a:latin typeface="Inter"/>
                <a:ea typeface="Inter"/>
                <a:cs typeface="Inter"/>
                <a:sym typeface="Inter"/>
              </a:rPr>
              <a:t>https://img.freepik.com/free-vector/devops-team-abstract-concept-vector-illustration-software-development-team-member-agile-workflow-devops-team-model-it-teamwork-project-management-integrated-practice-abstract-metaphor_335657-2299.jpg?t=st=1777308418~exp=1777312018~hmac=70726216b2bb4cbdb8b2a8b45ba973241293db9d1bfa629c45d7ffb528998819</a:t>
            </a:r>
            <a:endParaRPr/>
          </a:p>
        </p:txBody>
      </p:sp>
      <p:sp>
        <p:nvSpPr>
          <p:cNvPr id="186" name="Google Shape;186;p19"/>
          <p:cNvSpPr txBox="1"/>
          <p:nvPr/>
        </p:nvSpPr>
        <p:spPr>
          <a:xfrm>
            <a:off x="1666875" y="3290887"/>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www.magnific.com</a:t>
            </a:r>
            <a:endParaRPr/>
          </a:p>
        </p:txBody>
      </p:sp>
      <p:pic>
        <p:nvPicPr>
          <p:cNvPr id="187" name="Google Shape;187;p19" descr="image.png"/>
          <p:cNvPicPr preferRelativeResize="0"/>
          <p:nvPr/>
        </p:nvPicPr>
        <p:blipFill rotWithShape="1">
          <a:blip r:embed="rId5">
            <a:alphaModFix/>
          </a:blip>
          <a:srcRect/>
          <a:stretch/>
        </p:blipFill>
        <p:spPr>
          <a:xfrm>
            <a:off x="571500" y="3836491"/>
            <a:ext cx="857250" cy="476250"/>
          </a:xfrm>
          <a:prstGeom prst="rect">
            <a:avLst/>
          </a:prstGeom>
          <a:noFill/>
          <a:ln>
            <a:noFill/>
          </a:ln>
        </p:spPr>
      </p:pic>
      <p:sp>
        <p:nvSpPr>
          <p:cNvPr id="188" name="Google Shape;188;p19"/>
          <p:cNvSpPr txBox="1"/>
          <p:nvPr/>
        </p:nvSpPr>
        <p:spPr>
          <a:xfrm>
            <a:off x="1666875" y="3829942"/>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CBD5E1"/>
                </a:solidFill>
                <a:latin typeface="Inter"/>
                <a:ea typeface="Inter"/>
                <a:cs typeface="Inter"/>
                <a:sym typeface="Inter"/>
              </a:rPr>
              <a:t>https://cdn.processon.io/admin/knowledge/article_content_img/6791de9abcb4581cedd10afd.png</a:t>
            </a:r>
            <a:endParaRPr/>
          </a:p>
        </p:txBody>
      </p:sp>
      <p:sp>
        <p:nvSpPr>
          <p:cNvPr id="189" name="Google Shape;189;p19"/>
          <p:cNvSpPr txBox="1"/>
          <p:nvPr/>
        </p:nvSpPr>
        <p:spPr>
          <a:xfrm>
            <a:off x="1666875" y="4075658"/>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www.processon.io</a:t>
            </a:r>
            <a:endParaRPr/>
          </a:p>
        </p:txBody>
      </p:sp>
      <p:pic>
        <p:nvPicPr>
          <p:cNvPr id="190" name="Google Shape;190;p19" descr="image.png"/>
          <p:cNvPicPr preferRelativeResize="0"/>
          <p:nvPr/>
        </p:nvPicPr>
        <p:blipFill rotWithShape="1">
          <a:blip r:embed="rId6">
            <a:alphaModFix/>
          </a:blip>
          <a:srcRect/>
          <a:stretch/>
        </p:blipFill>
        <p:spPr>
          <a:xfrm>
            <a:off x="571500" y="4621262"/>
            <a:ext cx="857250" cy="476250"/>
          </a:xfrm>
          <a:prstGeom prst="rect">
            <a:avLst/>
          </a:prstGeom>
          <a:noFill/>
          <a:ln>
            <a:noFill/>
          </a:ln>
        </p:spPr>
      </p:pic>
      <p:sp>
        <p:nvSpPr>
          <p:cNvPr id="191" name="Google Shape;191;p19"/>
          <p:cNvSpPr txBox="1"/>
          <p:nvPr/>
        </p:nvSpPr>
        <p:spPr>
          <a:xfrm>
            <a:off x="1666875" y="4614713"/>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CBD5E1"/>
                </a:solidFill>
                <a:latin typeface="Inter"/>
                <a:ea typeface="Inter"/>
                <a:cs typeface="Inter"/>
                <a:sym typeface="Inter"/>
              </a:rPr>
              <a:t>https://bradsugars.com/wp-content/uploads/2024/10/The-Business-Performance-Management-Cycle.webp</a:t>
            </a:r>
            <a:endParaRPr/>
          </a:p>
        </p:txBody>
      </p:sp>
      <p:sp>
        <p:nvSpPr>
          <p:cNvPr id="192" name="Google Shape;192;p19"/>
          <p:cNvSpPr txBox="1"/>
          <p:nvPr/>
        </p:nvSpPr>
        <p:spPr>
          <a:xfrm>
            <a:off x="1666875" y="4860428"/>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bradsugars.com</a:t>
            </a:r>
            <a:endParaRPr/>
          </a:p>
        </p:txBody>
      </p:sp>
      <p:sp>
        <p:nvSpPr>
          <p:cNvPr id="193" name="Google Shape;193;p19"/>
          <p:cNvSpPr txBox="1"/>
          <p:nvPr/>
        </p:nvSpPr>
        <p:spPr>
          <a:xfrm>
            <a:off x="571500" y="571500"/>
            <a:ext cx="1160145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Montserrat"/>
                <a:ea typeface="Montserrat"/>
                <a:cs typeface="Montserrat"/>
                <a:sym typeface="Montserrat"/>
              </a:rPr>
              <a:t>Image Sources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A50FFB36FC79B408BA93AF7FF22E965" ma:contentTypeVersion="4" ma:contentTypeDescription="Create a new document." ma:contentTypeScope="" ma:versionID="62fcbe3e1dfc692ab79f62eb656c0fdd">
  <xsd:schema xmlns:xsd="http://www.w3.org/2001/XMLSchema" xmlns:xs="http://www.w3.org/2001/XMLSchema" xmlns:p="http://schemas.microsoft.com/office/2006/metadata/properties" xmlns:ns3="cb46e755-a3a3-485b-a538-5164ded97d2d" targetNamespace="http://schemas.microsoft.com/office/2006/metadata/properties" ma:root="true" ma:fieldsID="f1afc0e89ebcb3901bca3b3ad242d446" ns3:_="">
    <xsd:import namespace="cb46e755-a3a3-485b-a538-5164ded97d2d"/>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46e755-a3a3-485b-a538-5164ded97d2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24274BC-D534-4A30-945E-6A43EF2F9C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b46e755-a3a3-485b-a538-5164ded97d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B453564-0E78-476B-90F9-18F6FAC9F9CA}">
  <ds:schemaRefs>
    <ds:schemaRef ds:uri="http://schemas.microsoft.com/sharepoint/v3/contenttype/forms"/>
  </ds:schemaRefs>
</ds:datastoreItem>
</file>

<file path=customXml/itemProps3.xml><?xml version="1.0" encoding="utf-8"?>
<ds:datastoreItem xmlns:ds="http://schemas.openxmlformats.org/officeDocument/2006/customXml" ds:itemID="{61259B19-181A-4BBE-8212-2C0E4DC9FAFF}">
  <ds:schemaRefs>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http://schemas.microsoft.com/office/infopath/2007/PartnerControls"/>
    <ds:schemaRef ds:uri="http://purl.org/dc/dcmitype/"/>
    <ds:schemaRef ds:uri="cb46e755-a3a3-485b-a538-5164ded97d2d"/>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0</TotalTime>
  <Words>624</Words>
  <Application>Microsoft Office PowerPoint</Application>
  <PresentationFormat>Widescreen</PresentationFormat>
  <Paragraphs>39</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Calibri</vt:lpstr>
      <vt:lpstr>Montserrat</vt:lpstr>
      <vt:lpstr>Montserrat SemiBold</vt:lpstr>
      <vt:lpstr>Montserrat ExtraBold</vt: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Clift, Cody</cp:lastModifiedBy>
  <cp:revision>1</cp:revision>
  <dcterms:modified xsi:type="dcterms:W3CDTF">2026-06-19T03:24:07Z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0x0101005A50FFB36FC79B408BA93AF7FF22E965</vt:lpwstr>
  </property>
</Properties>
</file>